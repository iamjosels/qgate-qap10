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con un método híbrido: QAOA en Qiskit resuelve piezas pequeñas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aeropuerto asigna 10 vuelos de conexión a 10 puertas. Si dos vuelos comparten muchos pasajeros y sus puertas quedan lejos, la gente camina más. Hay 3,628,800 asignaciones. A la izquierda una asignación aleatoria (costo 536), a la derecha la de QGate.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está linealizado. Reconstruimos el costo sin depender de nombres: las filas de asignación dan las 100 x, y cada variable y une dos x con coeficiente F por D. Factorizamos con residuo cero y validamos: N=3 da 24, N=4 da 32 y la instancia completa 340. La escala es correcta.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un Hamiltoniano de Ising y lo resolvemos con QAOA en Qiskit Aer. Comparamos dos ansatz: el estándar con mixer X, donde todo es penalidad, y el de operador alternante con mixer XY y estado W, que mantiene una puerta por vuelo. QAOA siempre supera al azar en asignaciones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N=10 completo exige 100 qubits: imposible en memoria. Por eso usamos piezas de 9 qubits. Elegimos lambda como el mayor aporte posible de una asignación y lo validamos con un barrido. Y medimos ruido: el mixer XY pierde casi toda su ventaja de factibilidad con 1% de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 subproblema de 9 qubits con el resto fijo y lo resuelve con QAOA. Con la semilla del bench llega a 340, gap 0.0%. Fuimos honestos: con 512 muestras hasta el azar resuelve piezas tan chicas. Por eso medimos con 8 muestras: QAOA resuelve 59% de las piezas y el azar 29%. En varias semillas el marco llega a 340 en 4 de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N el subproblema cuántico sigue siendo de 9 qubits y la memoria no crece. Sin óptimo conocido en N mayores, medimos contra una cota inferior. La búsqueda es más lenta que simulated annealing en simulador: eso es honesto y es lo que esperamos mejorar con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cuántico hoy aporta estructura: el mixer XY respeta las restricciones y QAOA resuelve bien piezas pequeñas. No tiene ventaja de tiempo frente al clásico en simulador, y lo decimos con números. El siguiente paso es hardware IBM real, vecindarios más grandes y mitigación de errores.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F5B942"/>
                </a:solidFill>
                <a:latin typeface="Consolas"/>
              </a:rPr>
              <a:t>IBM QUANTUM HACKATHON 2026 · RETO NTT DATA QAP10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8229600" cy="1645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0" b="1">
                <a:solidFill>
                  <a:srgbClr val="E8EDF5"/>
                </a:solidFill>
                <a:latin typeface="Segoe UI Semibold"/>
              </a:rPr>
              <a:t>Q</a:t>
            </a:r>
            <a:r>
              <a:rPr sz="9600" b="1">
                <a:solidFill>
                  <a:srgbClr val="F5B942"/>
                </a:solidFill>
                <a:latin typeface="Segoe UI Semibold"/>
              </a:rPr>
              <a:t>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91440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0">
                <a:solidFill>
                  <a:srgbClr val="A9B4C7"/>
                </a:solidFill>
                <a:latin typeface="Segoe UI Semibold"/>
              </a:rPr>
              <a:t>Vuelos </a:t>
            </a:r>
            <a:r>
              <a:rPr sz="3000" b="0">
                <a:solidFill>
                  <a:srgbClr val="F5B942"/>
                </a:solidFill>
                <a:latin typeface="Segoe UI Semibold"/>
              </a:rPr>
              <a:t>→</a:t>
            </a:r>
            <a:r>
              <a:rPr sz="3000" b="0">
                <a:solidFill>
                  <a:srgbClr val="A9B4C7"/>
                </a:solidFill>
                <a:latin typeface="Segoe UI Semibold"/>
              </a:rPr>
              <a:t> puertas con QAOA híbrido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9144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5FD4EE"/>
                </a:solidFill>
                <a:latin typeface="Consolas"/>
              </a:rPr>
              <a:t>Track A · Aeropuerto · Qiskit 2.6.1 + Aer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92040"/>
            <a:ext cx="100584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E8EDF5"/>
                </a:solidFill>
                <a:latin typeface="Segoe UI"/>
              </a:rPr>
              <a:t>Integrante 1   ·   Integrante 2   ·   Integrante 3   ·   Integrante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74829B"/>
                </a:solidFill>
                <a:latin typeface="Segoe UI"/>
              </a:rPr>
              <a:t>Equipo QGate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https://github.com/iamjosels/qgate-qap10   ·   demo: https://iamjosels.github.io/qgate-qap10/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Pasajeros en conexión caminan entre puertas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54864" cy="1152144"/>
          </a:xfrm>
          <a:prstGeom prst="rect">
            <a:avLst/>
          </a:prstGeom>
          <a:solidFill>
            <a:srgbClr val="F5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29968"/>
            <a:ext cx="2331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VUELOS × PUERTAS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04288"/>
            <a:ext cx="233172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>
                <a:solidFill>
                  <a:srgbClr val="F5B942"/>
                </a:solidFill>
                <a:latin typeface="Consolas"/>
              </a:rPr>
              <a:t>10 ×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584448"/>
            <a:ext cx="54864" cy="1152144"/>
          </a:xfrm>
          <a:prstGeom prst="rect">
            <a:avLst/>
          </a:prstGeom>
          <a:solidFill>
            <a:srgbClr val="F5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4448"/>
            <a:ext cx="2331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ASIGNACIONES (10!)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58768"/>
            <a:ext cx="233172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F5B942"/>
                </a:solidFill>
                <a:latin typeface="Consolas"/>
              </a:rPr>
              <a:t>3.6 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3774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F5B942"/>
                </a:solidFill>
                <a:latin typeface="Consolas"/>
              </a:rPr>
              <a:t>C = Σ</a:t>
            </a:r>
            <a:r>
              <a:rPr sz="1100" b="0">
                <a:solidFill>
                  <a:srgbClr val="F5B942"/>
                </a:solidFill>
                <a:latin typeface="Consolas"/>
              </a:rPr>
              <a:t>i&lt;k</a:t>
            </a:r>
            <a:r>
              <a:rPr sz="2000" b="1">
                <a:solidFill>
                  <a:srgbClr val="F5B942"/>
                </a:solidFill>
                <a:latin typeface="Consolas"/>
              </a:rPr>
              <a:t> F·D</a:t>
            </a:r>
          </a:p>
          <a:p>
            <a:pPr algn="l"/>
            <a:r>
              <a:rPr sz="1100" b="0">
                <a:solidFill>
                  <a:srgbClr val="A9B4C7"/>
                </a:solidFill>
                <a:latin typeface="Segoe UI"/>
              </a:rPr>
              <a:t>pasajeros × distancia, cada par una vez</a:t>
            </a:r>
          </a:p>
        </p:txBody>
      </p:sp>
      <p:pic>
        <p:nvPicPr>
          <p:cNvPr id="15" name="Picture 14" descr="mapa_pu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874519"/>
            <a:ext cx="8229600" cy="34414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qap10 (MIPLIB) es un benchmark matemático: pasajeros y distancias son supuestos de negocio.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Datos: del MPS al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Verificamos la escala con los óptimos de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8"/>
            <a:ext cx="47548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5FD4EE"/>
                </a:solidFill>
                <a:latin typeface="Consolas"/>
              </a:rPr>
              <a:t>4150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A9B4C7"/>
                </a:solidFill>
                <a:latin typeface="Segoe UI"/>
              </a:rPr>
              <a:t>variables = 100 x + 4050 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53511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63239"/>
            <a:ext cx="47548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5FD4EE"/>
                </a:solidFill>
                <a:latin typeface="Consolas"/>
              </a:rPr>
              <a:t>1820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83863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A9B4C7"/>
                </a:solidFill>
                <a:latin typeface="Segoe UI"/>
              </a:rPr>
              <a:t>restricciones de igualdad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32504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42232"/>
            <a:ext cx="47548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5FD4EE"/>
                </a:solidFill>
                <a:latin typeface="Consolas"/>
              </a:rPr>
              <a:t>y ↔ (x_ij , x_kl)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62856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A9B4C7"/>
                </a:solidFill>
                <a:latin typeface="Segoe UI"/>
              </a:rPr>
              <a:t>coeficiente = F_ik · D_jl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11496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21224"/>
            <a:ext cx="47548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5FD4EE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1848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A9B4C7"/>
                </a:solidFill>
                <a:latin typeface="Segoe UI"/>
              </a:rPr>
              <a:t>residuo SVD (F, D exactos)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74519"/>
            <a:ext cx="1691640" cy="2103120"/>
          </a:xfrm>
          <a:prstGeom prst="roundRect">
            <a:avLst>
              <a:gd name="adj" fmla="val 648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01168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0">
                <a:solidFill>
                  <a:srgbClr val="A9B4C7"/>
                </a:solidFill>
                <a:latin typeface="Consolas"/>
              </a:rPr>
              <a:t>N =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423160"/>
            <a:ext cx="1691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4000" b="1">
                <a:solidFill>
                  <a:srgbClr val="F5B942"/>
                </a:solidFill>
                <a:latin typeface="Consolas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9184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00" b="0">
                <a:solidFill>
                  <a:srgbClr val="3ECF8E"/>
                </a:solidFill>
                <a:latin typeface="Consolas"/>
              </a:rPr>
              <a:t>✓ esperado 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874519"/>
            <a:ext cx="1691640" cy="2103120"/>
          </a:xfrm>
          <a:prstGeom prst="roundRect">
            <a:avLst>
              <a:gd name="adj" fmla="val 648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01168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0">
                <a:solidFill>
                  <a:srgbClr val="A9B4C7"/>
                </a:solidFill>
                <a:latin typeface="Consolas"/>
              </a:rPr>
              <a:t>N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23160"/>
            <a:ext cx="1691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4000" b="1">
                <a:solidFill>
                  <a:srgbClr val="F5B942"/>
                </a:solidFill>
                <a:latin typeface="Consolas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329184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00" b="0">
                <a:solidFill>
                  <a:srgbClr val="3ECF8E"/>
                </a:solidFill>
                <a:latin typeface="Consolas"/>
              </a:rPr>
              <a:t>✓ esperado 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59" y="1874519"/>
            <a:ext cx="1691640" cy="2103120"/>
          </a:xfrm>
          <a:prstGeom prst="roundRect">
            <a:avLst>
              <a:gd name="adj" fmla="val 648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59" y="201168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0">
                <a:solidFill>
                  <a:srgbClr val="A9B4C7"/>
                </a:solidFill>
                <a:latin typeface="Consolas"/>
              </a:rPr>
              <a:t>N =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2423160"/>
            <a:ext cx="1691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4000" b="1">
                <a:solidFill>
                  <a:srgbClr val="F5B942"/>
                </a:solidFill>
                <a:latin typeface="Consolas"/>
              </a:rPr>
              <a:t>340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3291840"/>
            <a:ext cx="1691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00" b="0">
                <a:solidFill>
                  <a:srgbClr val="3ECF8E"/>
                </a:solidFill>
                <a:latin typeface="Consolas"/>
              </a:rPr>
              <a:t>✓ esperado 340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251960"/>
            <a:ext cx="548640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Cómo: </a:t>
            </a:r>
            <a:r>
              <a:rPr sz="1400" b="0">
                <a:solidFill>
                  <a:srgbClr val="A9B4C7"/>
                </a:solidFill>
                <a:latin typeface="Segoe UI"/>
              </a:rPr>
              <a:t>las filas de asignación (rhs 1) identifican las x; cada y aparece junto a dos x y su costo es F·D. Armamos T, lo factorizamos en F y D y probamos el orden de índices hasta reproducir 24 y 32.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74829B"/>
                </a:solidFill>
                <a:latin typeface="Segoe UI"/>
              </a:rPr>
              <a:t>Si se duplicaran pares saldría 48 · 64 · 680.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Fuerza bruta N=10: 3,628,800 permutaciones en 6.9 s · 1 óptimo · el 340 solo se usa para medir el gap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Qiskit: QUBO → Ising → QAOA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Mixer X (todo penalizado) vs mixer XY + estado W (filas válidas)</a:t>
            </a:r>
          </a:p>
        </p:txBody>
      </p:sp>
      <p:pic>
        <p:nvPicPr>
          <p:cNvPr id="5" name="Picture 4" descr="qaoa_vs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315200" cy="3657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83879" y="1828800"/>
            <a:ext cx="3474720" cy="1417320"/>
          </a:xfrm>
          <a:prstGeom prst="roundRect">
            <a:avLst>
              <a:gd name="adj" fmla="val 7741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83879" y="1938528"/>
            <a:ext cx="54864" cy="119786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938528"/>
            <a:ext cx="3154679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N=4 · MIXER X VS AZAR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212848"/>
            <a:ext cx="3154679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>
                <a:solidFill>
                  <a:srgbClr val="5FD4EE"/>
                </a:solidFill>
                <a:latin typeface="Consolas"/>
              </a:rPr>
              <a:t>×112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834639"/>
            <a:ext cx="3154679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>
                <a:solidFill>
                  <a:srgbClr val="74829B"/>
                </a:solidFill>
                <a:latin typeface="Segoe UI"/>
              </a:rPr>
              <a:t>P(válida) 0.041 vs 0.0004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429000"/>
            <a:ext cx="3474720" cy="1417320"/>
          </a:xfrm>
          <a:prstGeom prst="roundRect">
            <a:avLst>
              <a:gd name="adj" fmla="val 7741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3538728"/>
            <a:ext cx="54864" cy="119786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538728"/>
            <a:ext cx="3154679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N=4 · MIXER XY P(VÁLIDA)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813048"/>
            <a:ext cx="3154679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>
                <a:solidFill>
                  <a:srgbClr val="5FD4EE"/>
                </a:solidFill>
                <a:latin typeface="Consolas"/>
              </a:rPr>
              <a:t>0.48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434840"/>
            <a:ext cx="3154679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>
                <a:solidFill>
                  <a:srgbClr val="74829B"/>
                </a:solidFill>
                <a:latin typeface="Segoe UI"/>
              </a:rPr>
              <a:t>azar con filas válidas 0.094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5029200"/>
            <a:ext cx="3474720" cy="118872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5138928"/>
            <a:ext cx="54864" cy="96926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5138928"/>
            <a:ext cx="3154679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CIRCUITO N=4, P=1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5413248"/>
            <a:ext cx="3154679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>
                <a:solidFill>
                  <a:srgbClr val="5FD4EE"/>
                </a:solidFill>
                <a:latin typeface="Consolas"/>
              </a:rPr>
              <a:t>16 q · 292 CX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Qiskit construye el circuito, simula (Aer statevector + shots) y transpila. Lo clásico: leer MPS, QUBO, λ, COBYLA, búsqueda.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Límites y cómo los manejamos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Memoria, penalidad λ y ruido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35661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STATEVECTOR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A9B4C7"/>
                </a:solidFill>
                <a:latin typeface="Consolas"/>
              </a:rPr>
              <a:t>N=4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37744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5FD4EE"/>
                </a:solidFill>
                <a:latin typeface="Consolas"/>
              </a:rPr>
              <a:t>16 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E8EDF5"/>
                </a:solidFill>
                <a:latin typeface="Consolas"/>
              </a:rPr>
              <a:t>1 MiB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A9B4C7"/>
                </a:solidFill>
                <a:latin typeface="Consolas"/>
              </a:rPr>
              <a:t>N=5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1752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5FD4EE"/>
                </a:solidFill>
                <a:latin typeface="Consolas"/>
              </a:rPr>
              <a:t>25 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017520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E8EDF5"/>
                </a:solidFill>
                <a:latin typeface="Consolas"/>
              </a:rPr>
              <a:t>512 MiB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A9B4C7"/>
                </a:solidFill>
                <a:latin typeface="Consolas"/>
              </a:rPr>
              <a:t>N=10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5760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5FD4EE"/>
                </a:solidFill>
                <a:latin typeface="Consolas"/>
              </a:rPr>
              <a:t>100 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57600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F5B942"/>
                </a:solidFill>
                <a:latin typeface="Consolas"/>
              </a:rPr>
              <a:t>2.0·10^31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79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A9B4C7"/>
                </a:solidFill>
                <a:latin typeface="Consolas"/>
              </a:rPr>
              <a:t>N=14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79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5FD4EE"/>
                </a:solidFill>
                <a:latin typeface="Consolas"/>
              </a:rPr>
              <a:t>196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97679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F5B942"/>
                </a:solidFill>
                <a:latin typeface="Consolas"/>
              </a:rPr>
              <a:t>1.6·10^60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35661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Segoe UI"/>
              </a:rPr>
              <a:t>→ subproblemas de 9 qubits</a:t>
            </a:r>
          </a:p>
        </p:txBody>
      </p:sp>
      <p:pic>
        <p:nvPicPr>
          <p:cNvPr id="20" name="Picture 19" descr="ru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28800"/>
            <a:ext cx="5486400" cy="3291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349240"/>
            <a:ext cx="11155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F5B942"/>
                </a:solidFill>
                <a:latin typeface="Segoe UI"/>
              </a:rPr>
              <a:t>Ruido 1%: </a:t>
            </a:r>
            <a:r>
              <a:rPr sz="1800" b="0">
                <a:solidFill>
                  <a:srgbClr val="A9B4C7"/>
                </a:solidFill>
                <a:latin typeface="Segoe UI"/>
              </a:rPr>
              <a:t>XY 0.79 → 0.25 válidas (azar 0.22)</a:t>
            </a:r>
            <a:r>
              <a:rPr sz="1800" b="0">
                <a:solidFill>
                  <a:srgbClr val="A9B4C7"/>
                </a:solidFill>
                <a:latin typeface="Segoe UI"/>
              </a:rPr>
              <a:t>   ·   X 0.14 → 0.085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λ0 = mayor aporte posible de una asignación, validado con barrido λ/λ0 (dashboard). Simulador con ruido despolarizante; no es hardware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QGate: QAOA como subrutina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Búsqueda clásica por vecindarios · 3 vuelos = 9 qubits por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291840" cy="566928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01952"/>
            <a:ext cx="30175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E8EDF5"/>
                </a:solidFill>
                <a:latin typeface="Segoe UI"/>
              </a:rPr>
              <a:t>1  Elegir 3 vuelos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3291840" cy="566928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5F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15184"/>
            <a:ext cx="30175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5FD4EE"/>
                </a:solidFill>
                <a:latin typeface="Segoe UI"/>
              </a:rPr>
              <a:t>2  Subproblema 9 qubits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55264"/>
            <a:ext cx="3291840" cy="566928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5F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328416"/>
            <a:ext cx="30175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5FD4EE"/>
                </a:solidFill>
                <a:latin typeface="Segoe UI"/>
              </a:rPr>
              <a:t>3  QAOA (Aer)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68496"/>
            <a:ext cx="3291840" cy="566928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41648"/>
            <a:ext cx="30175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E8EDF5"/>
                </a:solidFill>
                <a:latin typeface="Segoe UI"/>
              </a:rPr>
              <a:t>4  Aceptar si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81728"/>
            <a:ext cx="3291840" cy="566928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30175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E8EDF5"/>
                </a:solidFill>
                <a:latin typeface="Segoe UI"/>
              </a:rPr>
              <a:t>5  Perturbar si se estanca</a:t>
            </a:r>
          </a:p>
        </p:txBody>
      </p:sp>
      <p:pic>
        <p:nvPicPr>
          <p:cNvPr id="15" name="Picture 14" descr="hibrido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83080"/>
            <a:ext cx="5120640" cy="26883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464040" y="1783080"/>
            <a:ext cx="224028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40" y="1892807"/>
            <a:ext cx="54864" cy="115214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892807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P(ÓPTIMO) POR PIEZA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167128"/>
            <a:ext cx="192024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5FD4EE"/>
                </a:solidFill>
                <a:latin typeface="Consolas"/>
              </a:rPr>
              <a:t>0.09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743200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>
                <a:solidFill>
                  <a:srgbClr val="74829B"/>
                </a:solidFill>
                <a:latin typeface="Segoe UI"/>
              </a:rPr>
              <a:t>azar 0.039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3291840"/>
            <a:ext cx="224028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4040" y="3401568"/>
            <a:ext cx="54864" cy="115214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3401568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QGATE · 512 SHOTS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3675888"/>
            <a:ext cx="192024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5FD4EE"/>
                </a:solidFill>
                <a:latin typeface="Consolas"/>
              </a:rPr>
              <a:t>340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251959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>
                <a:solidFill>
                  <a:srgbClr val="74829B"/>
                </a:solidFill>
                <a:latin typeface="Segoe UI"/>
              </a:rPr>
              <a:t>gap 0.0 % · 300 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4800600"/>
            <a:ext cx="224028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4910328"/>
            <a:ext cx="54864" cy="115214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0" y="4910328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8 SHOTS: QAOA · AZAR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5184648"/>
            <a:ext cx="192024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5FD4EE"/>
                </a:solidFill>
                <a:latin typeface="Consolas"/>
              </a:rPr>
              <a:t>59%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5760720"/>
            <a:ext cx="1920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>
                <a:solidFill>
                  <a:srgbClr val="74829B"/>
                </a:solidFill>
                <a:latin typeface="Segoe UI"/>
              </a:rPr>
              <a:t>costo 372 vs 390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32120"/>
            <a:ext cx="35661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E8EDF5"/>
                </a:solidFill>
                <a:latin typeface="Segoe UI"/>
              </a:rPr>
              <a:t>12 semillas (exacto): </a:t>
            </a:r>
            <a:r>
              <a:rPr sz="1300" b="0">
                <a:solidFill>
                  <a:srgbClr val="A9B4C7"/>
                </a:solidFill>
                <a:latin typeface="Segoe UI"/>
              </a:rPr>
              <a:t>media 354.5, llega a 340 en 4/12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Con 512 shots el azar también resuelve piezas de 3 vuelos (6 opciones). Con 8 shots se ve lo que aporta QAOA: concentra probabilidad en el óptimo.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Escalabilidad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A9B4C7"/>
                </a:solidFill>
                <a:latin typeface="Segoe UI"/>
              </a:rPr>
              <a:t>N = 10, 12, 14, 16 · qubits constantes</a:t>
            </a:r>
          </a:p>
        </p:txBody>
      </p:sp>
      <p:pic>
        <p:nvPicPr>
          <p:cNvPr id="5" name="Picture 4" descr="escala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8503920" cy="324695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0" y="1938528"/>
            <a:ext cx="54864" cy="115214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938528"/>
            <a:ext cx="2057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QUBITS EN TODO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2212848"/>
            <a:ext cx="205740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>
                <a:solidFill>
                  <a:srgbClr val="5FD4EE"/>
                </a:solidFill>
                <a:latin typeface="Consolas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3832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0" y="3493008"/>
            <a:ext cx="54864" cy="1152144"/>
          </a:xfrm>
          <a:prstGeom prst="rect">
            <a:avLst/>
          </a:prstGeom>
          <a:solidFill>
            <a:srgbClr val="F5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3493008"/>
            <a:ext cx="2057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QUBITS QUBO N=16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3767328"/>
            <a:ext cx="2057400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>
                <a:solidFill>
                  <a:srgbClr val="F5B942"/>
                </a:solidFill>
                <a:latin typeface="Consolas"/>
              </a:rPr>
              <a:t>256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4937760"/>
            <a:ext cx="2377440" cy="128016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0" y="5047488"/>
            <a:ext cx="54864" cy="1060704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5047488"/>
            <a:ext cx="2057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A9B4C7"/>
                </a:solidFill>
                <a:latin typeface="Segoe UI"/>
              </a:rPr>
              <a:t>MEMORIA PICO QGATE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5321808"/>
            <a:ext cx="2057400" cy="7772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5FD4EE"/>
                </a:solidFill>
                <a:latin typeface="Consolas"/>
              </a:rPr>
              <a:t>0.8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N &gt; 10: sintéticas sin óptimo conocido, gap contra la cota Gilmore-Lawler (N=10: cota 301). SA gana en calidad y tiempo; lo que no crece es la parte cuántica.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Consola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E8EDF5"/>
                </a:solidFill>
                <a:latin typeface="Segoe UI Semibold"/>
              </a:rPr>
              <a:t>Qué aporta lo cuántico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611880" cy="3566160"/>
          </a:xfrm>
          <a:prstGeom prst="roundRect">
            <a:avLst>
              <a:gd name="adj" fmla="val 307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4864" cy="3291840"/>
          </a:xfrm>
          <a:prstGeom prst="rect">
            <a:avLst/>
          </a:prstGeom>
          <a:solidFill>
            <a:srgbClr val="5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8308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5FD4EE"/>
                </a:solidFill>
                <a:latin typeface="Consolas"/>
              </a:rPr>
              <a:t>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3200400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XY + estado W: factibilidad por construcción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QAOA concentra probabilidad en el óptimo de cada pieza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Memoria constante al crecer 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611880" cy="3566160"/>
          </a:xfrm>
          <a:prstGeom prst="roundRect">
            <a:avLst>
              <a:gd name="adj" fmla="val 307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54864" cy="3291840"/>
          </a:xfrm>
          <a:prstGeom prst="rect">
            <a:avLst/>
          </a:prstGeom>
          <a:solidFill>
            <a:srgbClr val="F5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F5B942"/>
                </a:solidFill>
                <a:latin typeface="Consolas"/>
              </a:rPr>
              <a:t>LÍMITES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86000"/>
            <a:ext cx="3200400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Simulador más lento que SA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Ruido borra la ventaja de XY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Piezas de 3 vuelos: el azar con muchos shots también llega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611880" cy="3566160"/>
          </a:xfrm>
          <a:prstGeom prst="roundRect">
            <a:avLst>
              <a:gd name="adj" fmla="val 3076"/>
            </a:avLst>
          </a:prstGeom>
          <a:solidFill>
            <a:srgbClr val="111A2B"/>
          </a:solidFill>
          <a:ln w="12700">
            <a:solidFill>
              <a:srgbClr val="24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737360"/>
            <a:ext cx="54864" cy="32918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E8EDF5"/>
                </a:solidFill>
                <a:latin typeface="Consolas"/>
              </a:rPr>
              <a:t>SIGUIENTE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3200400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Hardware IBM real (N=3, 9 qubits)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Vecindarios k=4 (16 qubits)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DF5"/>
                </a:solidFill>
                <a:latin typeface="Segoe UI"/>
              </a:rPr>
              <a:t>Warm start y mitigación de errores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11155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A9B4C7"/>
                </a:solidFill>
                <a:latin typeface="Segoe UI"/>
              </a:rPr>
              <a:t>Exacto </a:t>
            </a:r>
            <a:r>
              <a:rPr sz="1800" b="1">
                <a:solidFill>
                  <a:srgbClr val="F5B942"/>
                </a:solidFill>
                <a:latin typeface="Consolas"/>
              </a:rPr>
              <a:t>340</a:t>
            </a:r>
            <a:r>
              <a:rPr sz="1800" b="0">
                <a:solidFill>
                  <a:srgbClr val="A9B4C7"/>
                </a:solidFill>
                <a:latin typeface="Segoe UI"/>
              </a:rPr>
              <a:t>   ·   SA </a:t>
            </a:r>
            <a:r>
              <a:rPr sz="1800" b="1">
                <a:solidFill>
                  <a:srgbClr val="F5B942"/>
                </a:solidFill>
                <a:latin typeface="Consolas"/>
              </a:rPr>
              <a:t>340</a:t>
            </a:r>
            <a:r>
              <a:rPr sz="1800" b="0">
                <a:solidFill>
                  <a:srgbClr val="A9B4C7"/>
                </a:solidFill>
                <a:latin typeface="Segoe UI"/>
              </a:rPr>
              <a:t>   ·   QGate </a:t>
            </a:r>
            <a:r>
              <a:rPr sz="1800" b="1">
                <a:solidFill>
                  <a:srgbClr val="5FD4EE"/>
                </a:solidFill>
                <a:latin typeface="Consolas"/>
              </a:rPr>
              <a:t>340</a:t>
            </a:r>
            <a:r>
              <a:rPr sz="1800" b="0">
                <a:solidFill>
                  <a:srgbClr val="A9B4C7"/>
                </a:solidFill>
                <a:latin typeface="Segoe UI"/>
              </a:rPr>
              <a:t>   ·   aleatoria </a:t>
            </a:r>
            <a:r>
              <a:rPr sz="1800" b="1">
                <a:solidFill>
                  <a:srgbClr val="74829B"/>
                </a:solidFill>
                <a:latin typeface="Consolas"/>
              </a:rPr>
              <a:t>536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74829B"/>
                </a:solidFill>
                <a:latin typeface="Segoe UI"/>
              </a:rPr>
              <a:t>Qiskit · Qiskit Aer · NumPy · SciPy · Matplotlib · MIPLIB 2017 (qap10) · https://github.com/iamjosels/qgate-qap10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