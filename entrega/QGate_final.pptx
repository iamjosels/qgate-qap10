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9"/>
    <p:sldId id="265" r:id="rId8"/>
    <p:sldId id="266" r:id="rId7"/>
    <p:sldId id="267" r:id="rId6"/>
    <p:sldId id="268" r:id="rId5"/>
    <p:sldId id="269" r:id="rId4"/>
    <p:sldId id="270" r:id="rId3"/>
    <p:sldId id="263" r:id="rId10"/>
  </p:sldIdLst>
  <p:sldSz cx="18288000" cy="10287000"/>
  <p:notesSz cx="6858000" cy="9144000"/>
  <p:embeddedFontLst>
    <p:embeddedFont>
      <p:font typeface="Fira Sans" panose="020F0502020204030204" pitchFamily="34" charset="0"/>
      <p:regular r:id="rId12"/>
    </p:embeddedFont>
    <p:embeddedFont>
      <p:font typeface="Fira Sans Light" panose="020B0403050000020004" pitchFamily="34" charset="0"/>
      <p:regular r:id="rId13"/>
    </p:embeddedFont>
    <p:embeddedFont>
      <p:font typeface="IBM Plex Sans" panose="020B0503050203000203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99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62BDF-F0B5-45E3-AD5B-41D0B891B176}" type="datetimeFigureOut">
              <a:rPr lang="es-PE" smtClean="0"/>
              <a:t>24/10/2026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994C2-6660-4B45-B4D5-A4B56F412CD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829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Diez vuelos de conexión, diez puertas: 3 628 800 asignaciones posibles. El costo suma pasajeros por distancia. A la izquierda una asignación al azar, costo 536; a la derecha la de QGate, 340. Los datos son el benchmark qap10: las unidades son supuestos.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MPS viene linealizado. Las filas con lado derecho 1 identifican las x; cada variable y aparece junto a dos x y su coeficiente es flujo por distancia. Factorizamos con residuo cero y la escala cuadra: 24, 32 y 340.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Pasamos el QUBO a Ising y corremos QAOA en Qiskit Aer. Con el mixer estándar X, QAOA muestrea asignaciones válidas 112 veces más que el azar. Con el mixer XY y estado W, cada vuelo queda en una sola puerta y llegamos a 48% válidas.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Simular el problema completo exige 100 qubits: imposible. QGate usa siempre piezas de 9. Elegimos lambda con un criterio analítico y lo validamos con un barrido. Medimos el ruido: con 1% el mixer XY pierde casi toda su ventaja de factibilidad. Además corrimos N=3 una vez en ibm_kingston de IBM Quantum: con mixer XY salieron 25% de asignaciones válidas, frente a 79% ideal y 22% al 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QGate elige 3 vuelos, arma una pieza de 9 qubits con el resto fijo y la resuelve con QAOA. Con nuestra semilla llega a 340. Con 512 muestras hasta el azar resuelve piezas tan chicas, por eso medimos con 8: QAOA resuelve 59% de las piezas y el azar sobre los 27 estados de su espacio 29%. Pero el azar sobre las 6 permutaciones válidas llegaría a 78% y enumerar las 6 opciones, a 100%: QAOA concentra probabilidad respecto a su espacio de partida, pero en piezas de 3 vuelos aún no supera a esas alternativas. Con el solver exacto en cada vecindario, 4 de 12 semillas llegan a 340; el QAOA lo corrimos con la semilla 7: el límite es la búsqueda.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la final medimos N de 10 a 20 con 10 semillas y el mismo presupuesto para todos. La memoria cuántica no crece: siempre 9 qubits. La calidad todavía no escala: la tabla muestra la mediana y el rango entre semillas de SA y del híbrido con QAOA, cuánto de la reducción de costo vino de los bloques QAOA y qué fracción del tiempo se fue en QAOA.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lo cuántico aporta estructura y concentración de probabilidad en piezas pequeñas, no velocidad en simulador, y lo mostramos con números. Lo medimos en el simulador Qiskit Aer y en una corrida en ibm_kingston de IBM Quantum. El siguiente paso es más tiempo de hardware, piezas más grandes y mitigación de errores. Gracias. Desarrollado con asistencia de Claude Code (Anthropic), supervisada por el equipo; parte del motor se preparó antes de la jornada; los cuatro integrantes pueden explicar su funcionamiento.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Desarrollado con asistencia de Claude Code (Anthropic), supervisada por el equipo; parte del motor se preparó antes de la jornada; los cuatro integrantes pueden explicar su funcionamiento. Créditos: Qiskit, Qiskit Aer, qiskit-ibm-runtime, NumPy, SciPy, MIPLIB 2017 (qap10), Claude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jpeg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3210958" y="1291507"/>
            <a:ext cx="4426119" cy="7297503"/>
            <a:chOff x="0" y="0"/>
            <a:chExt cx="5901493" cy="9730004"/>
          </a:xfrm>
        </p:grpSpPr>
        <p:grpSp>
          <p:nvGrpSpPr>
            <p:cNvPr id="4" name="Group 4"/>
            <p:cNvGrpSpPr/>
            <p:nvPr/>
          </p:nvGrpSpPr>
          <p:grpSpPr>
            <a:xfrm>
              <a:off x="3659312" y="0"/>
              <a:ext cx="2242180" cy="2242180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dirty="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-1450604" y="417572"/>
              <a:ext cx="4618880" cy="438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Jose Giovanni Laura Silvera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1076" y="869487"/>
              <a:ext cx="4581599" cy="455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endParaRPr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3628237" y="2495463"/>
              <a:ext cx="2242180" cy="2242180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-1481680" y="2913035"/>
              <a:ext cx="4618880" cy="438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Alex Mauricio Vargas Tapia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364950"/>
              <a:ext cx="4581599" cy="455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endParaRPr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3659312" y="4991643"/>
              <a:ext cx="2242180" cy="224218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-1450604" y="5409215"/>
              <a:ext cx="4618880" cy="438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Stephie Zorrilla Delgado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076" y="5861130"/>
              <a:ext cx="4581599" cy="455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endParaRPr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3659312" y="7487823"/>
              <a:ext cx="2242180" cy="2242180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-1450604" y="7905395"/>
              <a:ext cx="4618880" cy="438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Mayra Dayanne Saravia Camacuari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076" y="8357310"/>
              <a:ext cx="4581599" cy="455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65513" y="309041"/>
            <a:ext cx="7051819" cy="1974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439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QGate: Flight-to-Gate Assignment with</a:t>
            </a:r>
          </a:p>
          <a:p>
            <a:pPr algn="l">
              <a:lnSpc>
                <a:spcPts val="5270"/>
              </a:lnSpc>
            </a:pPr>
            <a:r>
              <a:rPr lang="en-US" sz="439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 QAOA for the Qiskit Fall Fest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7E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  <p:txBody>
          <a:bodyPr/>
          <a:lstStyle/>
          <a:p>
            <a:endParaRPr u="sng"/>
          </a:p>
        </p:txBody>
      </p:sp>
      <p:sp>
        <p:nvSpPr>
          <p:cNvPr id="3" name="TextBox 3"/>
          <p:cNvSpPr txBox="1"/>
          <p:nvPr/>
        </p:nvSpPr>
        <p:spPr>
          <a:xfrm>
            <a:off x="4725859" y="1843312"/>
            <a:ext cx="8836282" cy="2210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1"/>
              </a:lnSpc>
            </a:pPr>
            <a:r>
              <a:rPr lang="en-US" sz="6365">
                <a:solidFill>
                  <a:srgbClr val="00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IBM QUANTUM </a:t>
            </a:r>
          </a:p>
          <a:p>
            <a:pPr algn="ctr">
              <a:lnSpc>
                <a:spcPts val="8911"/>
              </a:lnSpc>
            </a:pPr>
            <a:r>
              <a:rPr lang="en-US" sz="6365">
                <a:solidFill>
                  <a:srgbClr val="00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GLOBAL HACKATHON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98349" y="5086350"/>
            <a:ext cx="7091302" cy="513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06EFF"/>
                </a:solidFill>
                <a:latin typeface="Fira Sans"/>
                <a:ea typeface="Fira Sans"/>
                <a:cs typeface="Fira Sans"/>
                <a:sym typeface="Fira Sans"/>
              </a:rPr>
              <a:t>TEAM QGATE</a:t>
            </a:r>
          </a:p>
        </p:txBody>
      </p:sp>
      <p:sp>
        <p:nvSpPr>
          <p:cNvPr id="11" name="Freeform 11"/>
          <p:cNvSpPr/>
          <p:nvPr/>
        </p:nvSpPr>
        <p:spPr>
          <a:xfrm>
            <a:off x="286651" y="9357090"/>
            <a:ext cx="2972682" cy="713444"/>
          </a:xfrm>
          <a:custGeom>
            <a:avLst/>
            <a:gdLst/>
            <a:ahLst/>
            <a:cxnLst/>
            <a:rect l="l" t="t" r="r" b="b"/>
            <a:pathLst>
              <a:path w="2972682" h="713444">
                <a:moveTo>
                  <a:pt x="0" y="0"/>
                </a:moveTo>
                <a:lnTo>
                  <a:pt x="2972682" y="0"/>
                </a:lnTo>
                <a:lnTo>
                  <a:pt x="2972682" y="713444"/>
                </a:lnTo>
                <a:lnTo>
                  <a:pt x="0" y="713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2D9EC144-8D93-9C0E-9123-6BD3B443F7AA}"/>
              </a:ext>
            </a:extLst>
          </p:cNvPr>
          <p:cNvSpPr/>
          <p:nvPr/>
        </p:nvSpPr>
        <p:spPr>
          <a:xfrm>
            <a:off x="4419600" y="5896700"/>
            <a:ext cx="1681635" cy="16816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9B1AE247-491D-1B94-EDC1-D932BDD86601}"/>
              </a:ext>
            </a:extLst>
          </p:cNvPr>
          <p:cNvSpPr/>
          <p:nvPr/>
        </p:nvSpPr>
        <p:spPr>
          <a:xfrm>
            <a:off x="6781800" y="5896700"/>
            <a:ext cx="1681635" cy="16816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25D9BF61-93AA-59A6-B52D-4B0616CFA234}"/>
              </a:ext>
            </a:extLst>
          </p:cNvPr>
          <p:cNvSpPr/>
          <p:nvPr/>
        </p:nvSpPr>
        <p:spPr>
          <a:xfrm>
            <a:off x="9597536" y="5896700"/>
            <a:ext cx="1681635" cy="16816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64E8D977-EDA8-39A4-661C-04F99FEB138E}"/>
              </a:ext>
            </a:extLst>
          </p:cNvPr>
          <p:cNvSpPr/>
          <p:nvPr/>
        </p:nvSpPr>
        <p:spPr>
          <a:xfrm>
            <a:off x="12161365" y="5896700"/>
            <a:ext cx="1681635" cy="16816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443</Words>
  <Application>Microsoft Office PowerPoint</Application>
  <PresentationFormat>Personalizado</PresentationFormat>
  <Paragraphs>16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Calibri</vt:lpstr>
      <vt:lpstr>Fira Sans</vt:lpstr>
      <vt:lpstr>IBM Plex Sans</vt:lpstr>
      <vt:lpstr>Fira Sans Light</vt:lpstr>
      <vt:lpstr>Arial</vt:lpstr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QFF WORKSHOP: INTRODUCCIÓN A LA FÍSICA Y COMPUTACIÓN CUÁNTICA</dc:title>
  <cp:lastModifiedBy>Giovanni Silvera</cp:lastModifiedBy>
  <cp:revision>2</cp:revision>
  <dcterms:created xsi:type="dcterms:W3CDTF">2006-08-16T00:00:00Z</dcterms:created>
  <dcterms:modified xsi:type="dcterms:W3CDTF">2026-10-24T20:10:48Z</dcterms:modified>
  <dc:identifier>DAHVPRRZGXg</dc:identifier>
</cp:coreProperties>
</file>