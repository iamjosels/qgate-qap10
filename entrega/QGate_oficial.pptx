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64" r:id="rId12"/>
    <p:sldId id="265" r:id="rId10"/>
    <p:sldId id="266" r:id="rId9"/>
    <p:sldId id="267" r:id="rId8"/>
    <p:sldId id="268" r:id="rId7"/>
    <p:sldId id="269" r:id="rId19"/>
    <p:sldId id="270" r:id="rId20"/>
    <p:sldId id="263" r:id="rId13"/>
  </p:sldIdLst>
  <p:sldSz cx="18288000" cy="10287000"/>
  <p:notesSz cx="6858000" cy="9144000"/>
  <p:embeddedFontLst>
    <p:embeddedFont>
      <p:font typeface="Fira Sans Light" charset="1" panose="020B0403050000020004"/>
      <p:regular r:id="rId14"/>
    </p:embeddedFont>
    <p:embeddedFont>
      <p:font typeface="IBM Plex Sans" charset="1" panose="020B0503050203000203"/>
      <p:regular r:id="rId15"/>
    </p:embeddedFont>
    <p:embeddedFont>
      <p:font typeface="IBM Plex Sans Bold" charset="1" panose="020B0803050203000203"/>
      <p:regular r:id="rId16"/>
    </p:embeddedFont>
    <p:embeddedFont>
      <p:font typeface="IBM Plex Sans Bold Italics" charset="1" panose="020B0803050203000203"/>
      <p:regular r:id="rId17"/>
    </p:embeddedFont>
    <p:embeddedFont>
      <p:font typeface="Fira Sans" charset="1" panose="020B050305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999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slide" Target="slides/slide8.xml"/><Relationship Id="rId20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Diez vuelos de conexión, diez puertas: 3 628 800 asignaciones posibles. El costo suma pasajeros por distancia. A la izquierda una asignación al azar, costo 536; a la derecha la de QGate, 340. Los datos son el benchmark qap10: las unidades son supuestos.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MPS viene linealizado. Las filas con lado derecho 1 identifican las x; cada variable y aparece junto a dos x y su coeficiente es flujo por distancia. Factorizamos con residuo cero y la escala cuadra: 24, 32 y 340.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Pasamos el QUBO a Ising y corremos QAOA en Qiskit Aer. Con el mixer estándar X, QAOA muestrea asignaciones válidas 112 veces más que el azar. Con el mixer XY y estado W, cada vuelo queda en una sola puerta y llegamos a 48% válidas.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Simular el problema completo exige 100 qubits: imposible. QGate usa siempre piezas de 9. Elegimos lambda con un criterio analítico y lo validamos con un barrido. Medimos el ruido: con 1% el mixer XY pierde casi toda su ventaja de factibilidad. Además corrimos N=3 una vez en ibm_kingston de IBM Quantum: con mixer XY salieron 25% de asignaciones válidas, frente a 79% ideal y 22% al 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QGate elige 3 vuelos, arma una pieza de 9 qubits con el resto fijo y la resuelve con QAOA. Con nuestra semilla llega a 340. Con 512 muestras hasta el azar resuelve piezas tan chicas, por eso medimos con 8: QAOA resuelve 59% de las piezas y el azar 29%. En 12 semillas llega a 340 en 4: el límite es la búsqueda.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crecer hasta N=16 la parte cuántica sigue en 9 qubits y la memoria no crece. Sin óptimo conocido medimos contra una cota inferior. Lo decimos claro: en simulador, simulated annealing gana en calidad y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lo cuántico aporta estructura y concentración de probabilidad en piezas pequeñas, no velocidad en simulador, y lo mostramos con números. Lo medimos en el simulador Qiskit Aer y en una corrida en ibm_kingston de IBM Quantum. El siguiente paso es más tiempo de hardware, piezas más grandes y mitigación de errores.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jpeg"/><Relationship Id="rId4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3210958" y="1291507"/>
            <a:ext cx="4426119" cy="7297503"/>
            <a:chOff x="0" y="0"/>
            <a:chExt cx="5901493" cy="973000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3659312" y="0"/>
              <a:ext cx="2242180" cy="224218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-1450604" y="417572"/>
              <a:ext cx="461888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Jose Giovanni Laura Silvera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1076" y="869487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/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3628237" y="2495463"/>
              <a:ext cx="2242180" cy="224218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-1481680" y="2913035"/>
              <a:ext cx="461888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Alex Mauricio Vargas Tapia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364950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/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3659312" y="4991643"/>
              <a:ext cx="2242180" cy="224218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-1450604" y="5409215"/>
              <a:ext cx="461888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Stephie Zorrilla Delgado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1076" y="5861130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/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3659312" y="7487823"/>
              <a:ext cx="2242180" cy="224218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78303" t="0" r="-78303" b="0"/>
                </a:stretch>
              </a:blipFill>
            </p:spPr>
            <p:txBody>
              <a:bodyPr/>
              <a:p/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-1450604" y="7905395"/>
              <a:ext cx="4618880" cy="43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8"/>
                </a:lnSpc>
              </a:pPr>
              <a:r>
                <a:rPr lang="en-US" sz="1998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Mayra Dayanne Saravia Camacuari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1076" y="8357310"/>
              <a:ext cx="4581599" cy="455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/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65513" y="309041"/>
            <a:ext cx="7051819" cy="197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0"/>
              </a:lnSpc>
            </a:pPr>
            <a:r>
              <a:rPr lang="en-US" sz="439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QGate: Flight-to-Gate Assignment with</a:t>
            </a:r>
          </a:p>
          <a:p>
            <a:pPr algn="l">
              <a:lnSpc>
                <a:spcPts val="5270"/>
              </a:lnSpc>
            </a:pPr>
            <a:r>
              <a:rPr lang="en-US" sz="4391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 QAOA for the Qiskit Fall Fest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7E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725859" y="1843312"/>
            <a:ext cx="8836282" cy="221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1"/>
              </a:lnSpc>
            </a:pPr>
            <a:r>
              <a:rPr lang="en-US" sz="6365">
                <a:solidFill>
                  <a:srgbClr val="006E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IBM QUANTUM </a:t>
            </a:r>
          </a:p>
          <a:p>
            <a:pPr algn="ctr">
              <a:lnSpc>
                <a:spcPts val="8911"/>
              </a:lnSpc>
            </a:pPr>
            <a:r>
              <a:rPr lang="en-US" sz="6365">
                <a:solidFill>
                  <a:srgbClr val="006E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GLOBAL HACKATHON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98349" y="5086350"/>
            <a:ext cx="7091302" cy="51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3036">
                <a:solidFill>
                  <a:srgbClr val="006EFF"/>
                </a:solidFill>
                <a:latin typeface="Fira Sans"/>
                <a:ea typeface="Fira Sans"/>
                <a:cs typeface="Fira Sans"/>
                <a:sym typeface="Fira Sans"/>
              </a:rPr>
              <a:t>TEAM QGATE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725859" y="5981345"/>
            <a:ext cx="1934062" cy="1934062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7023924" y="5981345"/>
            <a:ext cx="1934062" cy="1934062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319936" y="5981345"/>
            <a:ext cx="1934062" cy="1934062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  <p:txBody>
            <a:bodyPr/>
            <a:p/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86651" y="9357090"/>
            <a:ext cx="2972682" cy="713444"/>
          </a:xfrm>
          <a:custGeom>
            <a:avLst/>
            <a:gdLst/>
            <a:ahLst/>
            <a:cxnLst/>
            <a:rect r="r" b="b" t="t" l="l"/>
            <a:pathLst>
              <a:path h="713444" w="2972682">
                <a:moveTo>
                  <a:pt x="0" y="0"/>
                </a:moveTo>
                <a:lnTo>
                  <a:pt x="2972682" y="0"/>
                </a:lnTo>
                <a:lnTo>
                  <a:pt x="2972682" y="713444"/>
                </a:lnTo>
                <a:lnTo>
                  <a:pt x="0" y="713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2" id="12"/>
          <p:cNvGrpSpPr/>
          <p:nvPr/>
        </p:nvGrpSpPr>
        <p:grpSpPr>
          <a:xfrm rot="0">
            <a:off x="11615948" y="5981345"/>
            <a:ext cx="1934062" cy="1934062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85470" y="585470"/>
              <a:ext cx="5179060" cy="5179060"/>
            </a:xfrm>
            <a:custGeom>
              <a:avLst/>
              <a:gdLst/>
              <a:ahLst/>
              <a:cxnLst/>
              <a:rect r="r" b="b" t="t" l="l"/>
              <a:pathLst>
                <a:path h="5179060" w="5179060">
                  <a:moveTo>
                    <a:pt x="0" y="0"/>
                  </a:moveTo>
                  <a:lnTo>
                    <a:pt x="5179060" y="0"/>
                  </a:lnTo>
                  <a:lnTo>
                    <a:pt x="5179060" y="5179060"/>
                  </a:lnTo>
                  <a:lnTo>
                    <a:pt x="0" y="5179060"/>
                  </a:lnTo>
                  <a:close/>
                </a:path>
              </a:pathLst>
            </a:custGeom>
            <a:blipFill>
              <a:blip r:embed="rId3"/>
              <a:stretch>
                <a:fillRect l="-107311" t="-11304" r="-107311" b="-11304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DAHVPRRZGXg</dc:identifier>
  <dcterms:modified xsi:type="dcterms:W3CDTF">2011-08-01T06:04:30Z</dcterms:modified>
  <cp:revision>1</cp:revision>
  <dc:title>[TEMPLATE] QFF WORKSHOP: INTRODUCCIÓN A LA FÍSICA Y COMPUTACIÓN CUÁNTICA</dc:title>
</cp:coreProperties>
</file>